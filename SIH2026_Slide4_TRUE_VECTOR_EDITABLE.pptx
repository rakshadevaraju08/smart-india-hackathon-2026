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599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2500" b="1" i="0">
                <a:solidFill>
                  <a:srgbClr val="0F2A4A"/>
                </a:solidFill>
                <a:latin typeface="Aptos"/>
              </a:rPr>
              <a:t>FEASIBILITY &amp;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640080"/>
            <a:ext cx="836676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0" i="1">
                <a:solidFill>
                  <a:srgbClr val="566470"/>
                </a:solidFill>
                <a:latin typeface="Aptos"/>
              </a:rPr>
              <a:t>Coupled Hydro-Meteorological Framework • 0–3 Hour Street-Level Flood Nowcasting • SIH 2026 | PS 26085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24128"/>
            <a:ext cx="4315968" cy="475488"/>
          </a:xfrm>
          <a:prstGeom prst="roundRect">
            <a:avLst/>
          </a:prstGeom>
          <a:solidFill>
            <a:srgbClr val="EBF7FD"/>
          </a:solidFill>
          <a:ln w="12700"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395020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50" b="1" i="0">
                <a:solidFill>
                  <a:srgbClr val="1480BE"/>
                </a:solidFill>
                <a:latin typeface="Aptos"/>
              </a:rPr>
              <a:t>POTENTIAL CHALLENGES / RISKS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52944" y="1024128"/>
            <a:ext cx="4315968" cy="475488"/>
          </a:xfrm>
          <a:prstGeom prst="roundRect">
            <a:avLst/>
          </a:prstGeom>
          <a:solidFill>
            <a:srgbClr val="EBF9F7"/>
          </a:solidFill>
          <a:ln w="12700"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35824" y="1078992"/>
            <a:ext cx="395020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50" b="1" i="0">
                <a:solidFill>
                  <a:srgbClr val="129D91"/>
                </a:solidFill>
                <a:latin typeface="Aptos"/>
              </a:rPr>
              <a:t>MITIGATION STRATEGIES</a:t>
            </a:r>
          </a:p>
        </p:txBody>
      </p:sp>
      <p:sp>
        <p:nvSpPr>
          <p:cNvPr id="8" name="Arc 7"/>
          <p:cNvSpPr/>
          <p:nvPr/>
        </p:nvSpPr>
        <p:spPr>
          <a:xfrm rot="1320000">
            <a:off x="4965192" y="1527048"/>
            <a:ext cx="2487168" cy="2487168"/>
          </a:xfrm>
          <a:prstGeom prst="arc">
            <a:avLst/>
          </a:prstGeom>
          <a:noFill/>
          <a:ln w="342900"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 rot="4020000">
            <a:off x="4965192" y="1527048"/>
            <a:ext cx="2487168" cy="2487168"/>
          </a:xfrm>
          <a:prstGeom prst="arc">
            <a:avLst/>
          </a:prstGeom>
          <a:noFill/>
          <a:ln w="342900"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 rot="6720000">
            <a:off x="4965192" y="1527048"/>
            <a:ext cx="2487168" cy="2487168"/>
          </a:xfrm>
          <a:prstGeom prst="arc">
            <a:avLst/>
          </a:prstGeom>
          <a:noFill/>
          <a:ln w="342900"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 rot="9420000">
            <a:off x="4965192" y="1527048"/>
            <a:ext cx="2487168" cy="2487168"/>
          </a:xfrm>
          <a:prstGeom prst="arc">
            <a:avLst/>
          </a:prstGeom>
          <a:noFill/>
          <a:ln w="342900"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 rot="12120000">
            <a:off x="4965192" y="1527048"/>
            <a:ext cx="2487168" cy="2487168"/>
          </a:xfrm>
          <a:prstGeom prst="arc">
            <a:avLst/>
          </a:prstGeom>
          <a:noFill/>
          <a:ln w="342900"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 rot="14820000">
            <a:off x="4965192" y="1527048"/>
            <a:ext cx="2487168" cy="2487168"/>
          </a:xfrm>
          <a:prstGeom prst="arc">
            <a:avLst/>
          </a:prstGeom>
          <a:noFill/>
          <a:ln w="342900"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 rot="17520000">
            <a:off x="4965192" y="1527048"/>
            <a:ext cx="2487168" cy="2487168"/>
          </a:xfrm>
          <a:prstGeom prst="arc">
            <a:avLst/>
          </a:prstGeom>
          <a:noFill/>
          <a:ln w="342900"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rc 14"/>
          <p:cNvSpPr/>
          <p:nvPr/>
        </p:nvSpPr>
        <p:spPr>
          <a:xfrm rot="20220000">
            <a:off x="4965192" y="1527048"/>
            <a:ext cx="2487168" cy="2487168"/>
          </a:xfrm>
          <a:prstGeom prst="arc">
            <a:avLst/>
          </a:prstGeom>
          <a:noFill/>
          <a:ln w="342900"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048255"/>
            <a:ext cx="1444752" cy="14447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59" y="2368296"/>
            <a:ext cx="1170432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 i="0">
                <a:solidFill>
                  <a:srgbClr val="0F2A4A"/>
                </a:solidFill>
                <a:latin typeface="Aptos"/>
              </a:rPr>
              <a:t>CHALLENGES
→ MITIGATION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8424" y="2862072"/>
            <a:ext cx="1060704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670" b="0" i="0">
                <a:solidFill>
                  <a:srgbClr val="566470"/>
                </a:solidFill>
                <a:latin typeface="Aptos"/>
              </a:rPr>
              <a:t>ENGINEERING
FEASIBILITY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1636776"/>
            <a:ext cx="43159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2" y="1783080"/>
            <a:ext cx="365760" cy="365760"/>
          </a:xfrm>
          <a:prstGeom prst="ellipse">
            <a:avLst/>
          </a:prstGeom>
          <a:solidFill>
            <a:srgbClr val="1480BE"/>
          </a:solidFill>
          <a:ln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1792224"/>
            <a:ext cx="36576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728216"/>
            <a:ext cx="34290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30" b="1" i="0">
                <a:solidFill>
                  <a:srgbClr val="1480BE"/>
                </a:solidFill>
                <a:latin typeface="Aptos"/>
              </a:rPr>
              <a:t>2D SIMULATION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1975104"/>
            <a:ext cx="3401568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10" b="0" i="0">
                <a:solidFill>
                  <a:srgbClr val="566470"/>
                </a:solidFill>
                <a:latin typeface="Aptos"/>
              </a:rPr>
              <a:t>Full-city 2D shallow-water solvers can miss the 0–3 h warning window.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52944" y="1636776"/>
            <a:ext cx="43159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17536" y="1783080"/>
            <a:ext cx="365760" cy="365760"/>
          </a:xfrm>
          <a:prstGeom prst="ellipse">
            <a:avLst/>
          </a:prstGeom>
          <a:solidFill>
            <a:srgbClr val="1480BE"/>
          </a:solidFill>
          <a:ln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1792224"/>
            <a:ext cx="36576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1728216"/>
            <a:ext cx="3438144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30" b="1" i="0">
                <a:solidFill>
                  <a:srgbClr val="1480BE"/>
                </a:solidFill>
                <a:latin typeface="Aptos"/>
              </a:rPr>
              <a:t>FAST HYBRID PONDING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4" y="1975104"/>
            <a:ext cx="3401568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10" b="0" i="0">
                <a:solidFill>
                  <a:srgbClr val="566470"/>
                </a:solidFill>
                <a:latin typeface="Aptos"/>
              </a:rPr>
              <a:t>Vectorized 1D surcharge + DEM depression filling. Target: &lt;350 ms inference.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36008" y="2002536"/>
            <a:ext cx="411480" cy="0"/>
          </a:xfrm>
          <a:prstGeom prst="line">
            <a:avLst/>
          </a:prstGeom>
          <a:ln w="15240">
            <a:solidFill>
              <a:srgbClr val="148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269480" y="2002536"/>
            <a:ext cx="283464" cy="0"/>
          </a:xfrm>
          <a:prstGeom prst="line">
            <a:avLst/>
          </a:prstGeom>
          <a:ln w="15240">
            <a:solidFill>
              <a:srgbClr val="148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590288" y="1952243"/>
            <a:ext cx="100584" cy="100584"/>
          </a:xfrm>
          <a:prstGeom prst="ellipse">
            <a:avLst/>
          </a:prstGeom>
          <a:solidFill>
            <a:srgbClr val="1480BE"/>
          </a:solidFill>
          <a:ln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23760" y="1952243"/>
            <a:ext cx="100584" cy="100584"/>
          </a:xfrm>
          <a:prstGeom prst="ellipse">
            <a:avLst/>
          </a:prstGeom>
          <a:solidFill>
            <a:srgbClr val="1480BE"/>
          </a:solidFill>
          <a:ln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0040" y="2496312"/>
            <a:ext cx="43159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4632" y="2642616"/>
            <a:ext cx="365760" cy="365760"/>
          </a:xfrm>
          <a:prstGeom prst="ellipse">
            <a:avLst/>
          </a:prstGeom>
          <a:solidFill>
            <a:srgbClr val="1480BE"/>
          </a:solidFill>
          <a:ln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" y="2651760"/>
            <a:ext cx="36576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2587752"/>
            <a:ext cx="34290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30" b="1" i="0">
                <a:solidFill>
                  <a:srgbClr val="1480BE"/>
                </a:solidFill>
                <a:latin typeface="Aptos"/>
              </a:rPr>
              <a:t>DRAIN SILTATION &amp; CLOGGING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2834640"/>
            <a:ext cx="3401568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10" b="0" i="0">
                <a:solidFill>
                  <a:srgbClr val="566470"/>
                </a:solidFill>
                <a:latin typeface="Aptos"/>
              </a:rPr>
              <a:t>Solid waste and silt reduce inlet / conduit capacity beyond clean-model assumptions.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52944" y="2496312"/>
            <a:ext cx="43159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17536" y="2642616"/>
            <a:ext cx="365760" cy="365760"/>
          </a:xfrm>
          <a:prstGeom prst="ellipse">
            <a:avLst/>
          </a:prstGeom>
          <a:solidFill>
            <a:srgbClr val="1480BE"/>
          </a:solidFill>
          <a:ln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17536" y="2651760"/>
            <a:ext cx="36576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2587752"/>
            <a:ext cx="3438144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30" b="1" i="0">
                <a:solidFill>
                  <a:srgbClr val="1480BE"/>
                </a:solidFill>
                <a:latin typeface="Aptos"/>
              </a:rPr>
              <a:t>DYNAMIC CLOGGING FACTOR (μclog)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2834640"/>
            <a:ext cx="3401568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10" b="0" i="0">
                <a:solidFill>
                  <a:srgbClr val="566470"/>
                </a:solidFill>
                <a:latin typeface="Aptos"/>
              </a:rPr>
              <a:t>Uses maintenance, desilting and grievance signals to throttle effective capacity.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636008" y="2862072"/>
            <a:ext cx="411480" cy="0"/>
          </a:xfrm>
          <a:prstGeom prst="line">
            <a:avLst/>
          </a:prstGeom>
          <a:ln w="15240">
            <a:solidFill>
              <a:srgbClr val="148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7269480" y="2862072"/>
            <a:ext cx="283464" cy="0"/>
          </a:xfrm>
          <a:prstGeom prst="line">
            <a:avLst/>
          </a:prstGeom>
          <a:ln w="15240">
            <a:solidFill>
              <a:srgbClr val="148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590288" y="2811779"/>
            <a:ext cx="100584" cy="100584"/>
          </a:xfrm>
          <a:prstGeom prst="ellipse">
            <a:avLst/>
          </a:prstGeom>
          <a:solidFill>
            <a:srgbClr val="1480BE"/>
          </a:solidFill>
          <a:ln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223760" y="2811779"/>
            <a:ext cx="100584" cy="100584"/>
          </a:xfrm>
          <a:prstGeom prst="ellipse">
            <a:avLst/>
          </a:prstGeom>
          <a:solidFill>
            <a:srgbClr val="1480BE"/>
          </a:solidFill>
          <a:ln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20040" y="3355848"/>
            <a:ext cx="43159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84632" y="3502152"/>
            <a:ext cx="365760" cy="365760"/>
          </a:xfrm>
          <a:prstGeom prst="ellipse">
            <a:avLst/>
          </a:prstGeom>
          <a:solidFill>
            <a:srgbClr val="129D91"/>
          </a:solidFill>
          <a:ln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" y="3511296"/>
            <a:ext cx="36576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3447288"/>
            <a:ext cx="34290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30" b="1" i="0">
                <a:solidFill>
                  <a:srgbClr val="129D91"/>
                </a:solidFill>
                <a:latin typeface="Aptos"/>
              </a:rPr>
              <a:t>UNMAPPED UNDERGROUND DRAINS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3694176"/>
            <a:ext cx="3401568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10" b="0" i="0">
                <a:solidFill>
                  <a:srgbClr val="566470"/>
                </a:solidFill>
                <a:latin typeface="Aptos"/>
              </a:rPr>
              <a:t>Legacy wards may lack complete digital subsurface network topology.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52944" y="3355848"/>
            <a:ext cx="43159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717536" y="3502152"/>
            <a:ext cx="365760" cy="365760"/>
          </a:xfrm>
          <a:prstGeom prst="ellipse">
            <a:avLst/>
          </a:prstGeom>
          <a:solidFill>
            <a:srgbClr val="129D91"/>
          </a:solidFill>
          <a:ln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17536" y="3511296"/>
            <a:ext cx="36576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3447288"/>
            <a:ext cx="3438144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30" b="1" i="0">
                <a:solidFill>
                  <a:srgbClr val="129D91"/>
                </a:solidFill>
                <a:latin typeface="Aptos"/>
              </a:rPr>
              <a:t>TOPOGRAPHIC FLOW INVERSION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3024" y="3694176"/>
            <a:ext cx="3401568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10" b="0" i="0">
                <a:solidFill>
                  <a:srgbClr val="566470"/>
                </a:solidFill>
                <a:latin typeface="Aptos"/>
              </a:rPr>
              <a:t>OSM road corridors + DEM flow gradients synthesize a directed drainage graph.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636008" y="3721608"/>
            <a:ext cx="411480" cy="0"/>
          </a:xfrm>
          <a:prstGeom prst="line">
            <a:avLst/>
          </a:prstGeom>
          <a:ln w="15240">
            <a:solidFill>
              <a:srgbClr val="129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7269480" y="3721608"/>
            <a:ext cx="283464" cy="0"/>
          </a:xfrm>
          <a:prstGeom prst="line">
            <a:avLst/>
          </a:prstGeom>
          <a:ln w="15240">
            <a:solidFill>
              <a:srgbClr val="129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590288" y="3671316"/>
            <a:ext cx="100584" cy="100584"/>
          </a:xfrm>
          <a:prstGeom prst="ellipse">
            <a:avLst/>
          </a:prstGeom>
          <a:solidFill>
            <a:srgbClr val="129D91"/>
          </a:solidFill>
          <a:ln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23760" y="3671316"/>
            <a:ext cx="100584" cy="100584"/>
          </a:xfrm>
          <a:prstGeom prst="ellipse">
            <a:avLst/>
          </a:prstGeom>
          <a:solidFill>
            <a:srgbClr val="129D91"/>
          </a:solidFill>
          <a:ln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20040" y="4215384"/>
            <a:ext cx="43159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84632" y="4361688"/>
            <a:ext cx="365760" cy="365760"/>
          </a:xfrm>
          <a:prstGeom prst="ellipse">
            <a:avLst/>
          </a:prstGeom>
          <a:solidFill>
            <a:srgbClr val="129D91"/>
          </a:solidFill>
          <a:ln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4632" y="4370832"/>
            <a:ext cx="36576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" y="4306824"/>
            <a:ext cx="34290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30" b="1" i="0">
                <a:solidFill>
                  <a:srgbClr val="129D91"/>
                </a:solidFill>
                <a:latin typeface="Aptos"/>
              </a:rPr>
              <a:t>RADAR ATTENUATION &amp; DATA GAPS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" y="4553712"/>
            <a:ext cx="3401568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10" b="0" i="0">
                <a:solidFill>
                  <a:srgbClr val="566470"/>
                </a:solidFill>
                <a:latin typeface="Aptos"/>
              </a:rPr>
              <a:t>Ground clutter, beam attenuation and sparse gauges create rainfall uncertainty.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52944" y="4215384"/>
            <a:ext cx="43159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717536" y="4361688"/>
            <a:ext cx="365760" cy="365760"/>
          </a:xfrm>
          <a:prstGeom prst="ellipse">
            <a:avLst/>
          </a:prstGeom>
          <a:solidFill>
            <a:srgbClr val="129D91"/>
          </a:solidFill>
          <a:ln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17536" y="4370832"/>
            <a:ext cx="36576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93024" y="4306824"/>
            <a:ext cx="3438144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30" b="1" i="0">
                <a:solidFill>
                  <a:srgbClr val="129D91"/>
                </a:solidFill>
                <a:latin typeface="Aptos"/>
              </a:rPr>
              <a:t>MULTI-SOURCE RAINFALL FUSION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93024" y="4553712"/>
            <a:ext cx="3401568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10" b="0" i="0">
                <a:solidFill>
                  <a:srgbClr val="566470"/>
                </a:solidFill>
                <a:latin typeface="Aptos"/>
              </a:rPr>
              <a:t>Combines radar with satellite/AWS observations to reduce spatial rainfall gaps.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636008" y="4581144"/>
            <a:ext cx="411480" cy="0"/>
          </a:xfrm>
          <a:prstGeom prst="line">
            <a:avLst/>
          </a:prstGeom>
          <a:ln w="15240">
            <a:solidFill>
              <a:srgbClr val="129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7269480" y="4581144"/>
            <a:ext cx="283464" cy="0"/>
          </a:xfrm>
          <a:prstGeom prst="line">
            <a:avLst/>
          </a:prstGeom>
          <a:ln w="15240">
            <a:solidFill>
              <a:srgbClr val="129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4590288" y="4530852"/>
            <a:ext cx="100584" cy="100584"/>
          </a:xfrm>
          <a:prstGeom prst="ellipse">
            <a:avLst/>
          </a:prstGeom>
          <a:solidFill>
            <a:srgbClr val="129D91"/>
          </a:solidFill>
          <a:ln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223760" y="4530852"/>
            <a:ext cx="100584" cy="100584"/>
          </a:xfrm>
          <a:prstGeom prst="ellipse">
            <a:avLst/>
          </a:prstGeom>
          <a:solidFill>
            <a:srgbClr val="129D91"/>
          </a:solidFill>
          <a:ln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38912" y="5093208"/>
            <a:ext cx="11311128" cy="420624"/>
          </a:xfrm>
          <a:prstGeom prst="roundRect">
            <a:avLst/>
          </a:prstGeom>
          <a:solidFill>
            <a:srgbClr val="EBF7FD"/>
          </a:solidFill>
          <a:ln w="12700"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5129784"/>
            <a:ext cx="1089964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0F2A4A"/>
                </a:solidFill>
                <a:latin typeface="Aptos"/>
              </a:rPr>
              <a:t>RESULTING FEASIBILITY &amp; VIABILITY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0040" y="5650992"/>
            <a:ext cx="280492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47472" y="5678424"/>
            <a:ext cx="2750058" cy="64008"/>
          </a:xfrm>
          <a:prstGeom prst="roundRect">
            <a:avLst/>
          </a:prstGeom>
          <a:solidFill>
            <a:srgbClr val="1480BE"/>
          </a:solidFill>
          <a:ln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4632" y="5815584"/>
            <a:ext cx="247573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0F2A4A"/>
                </a:solidFill>
                <a:latin typeface="Aptos"/>
              </a:rPr>
              <a:t>1. TECHNICAL FEASIBILITY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6062472"/>
            <a:ext cx="2494026" cy="429768"/>
          </a:xfrm>
          <a:prstGeom prst="rect">
            <a:avLst/>
          </a:prstGeom>
          <a:noFill/>
        </p:spPr>
        <p:txBody>
          <a:bodyPr wrap="square" lIns="9144" rIns="9144">
            <a:spAutoFit/>
          </a:bodyPr>
          <a:lstStyle/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Zero sensor capex</a:t>
            </a:r>
          </a:p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Open IMD radar + Cartosat DEM</a:t>
            </a:r>
          </a:p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Proven models + modern ML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34690" y="5650992"/>
            <a:ext cx="280492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262122" y="5678424"/>
            <a:ext cx="2750058" cy="64008"/>
          </a:xfrm>
          <a:prstGeom prst="roundRect">
            <a:avLst/>
          </a:prstGeom>
          <a:solidFill>
            <a:srgbClr val="1480BE"/>
          </a:solidFill>
          <a:ln>
            <a:solidFill>
              <a:srgbClr val="14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99282" y="5815584"/>
            <a:ext cx="247573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0F2A4A"/>
                </a:solidFill>
                <a:latin typeface="Aptos"/>
              </a:rPr>
              <a:t>2. OPERATIONAL VIABILITY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17570" y="6062472"/>
            <a:ext cx="2494026" cy="429768"/>
          </a:xfrm>
          <a:prstGeom prst="rect">
            <a:avLst/>
          </a:prstGeom>
          <a:noFill/>
        </p:spPr>
        <p:txBody>
          <a:bodyPr wrap="square" lIns="9144" rIns="9144">
            <a:spAutoFit/>
          </a:bodyPr>
          <a:lstStyle/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0–3 h lead-time predictions</a:t>
            </a:r>
          </a:p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Street-level depth + timing</a:t>
            </a:r>
          </a:p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Safe A* navigation API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49340" y="5650992"/>
            <a:ext cx="280492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176772" y="5678424"/>
            <a:ext cx="2750058" cy="64008"/>
          </a:xfrm>
          <a:prstGeom prst="roundRect">
            <a:avLst/>
          </a:prstGeom>
          <a:solidFill>
            <a:srgbClr val="129D91"/>
          </a:solidFill>
          <a:ln>
            <a:solidFill>
              <a:srgbClr val="12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13932" y="5815584"/>
            <a:ext cx="247573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0F2A4A"/>
                </a:solidFill>
                <a:latin typeface="Aptos"/>
              </a:rPr>
              <a:t>3. ECONOMIC VIABILITY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32220" y="6062472"/>
            <a:ext cx="2494026" cy="429768"/>
          </a:xfrm>
          <a:prstGeom prst="rect">
            <a:avLst/>
          </a:prstGeom>
          <a:noFill/>
        </p:spPr>
        <p:txBody>
          <a:bodyPr wrap="square" lIns="9144" rIns="9144">
            <a:spAutoFit/>
          </a:bodyPr>
          <a:lstStyle/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Cost-effective open data/tools</a:t>
            </a:r>
          </a:p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Minimal additional hardware</a:t>
            </a:r>
          </a:p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Cloud-native deployment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63990" y="5650992"/>
            <a:ext cx="280492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091422" y="5678424"/>
            <a:ext cx="2750058" cy="64008"/>
          </a:xfrm>
          <a:prstGeom prst="roundRect">
            <a:avLst/>
          </a:prstGeom>
          <a:solidFill>
            <a:srgbClr val="2A894C"/>
          </a:solidFill>
          <a:ln>
            <a:solidFill>
              <a:srgbClr val="2A8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28582" y="5815584"/>
            <a:ext cx="247573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0F2A4A"/>
                </a:solidFill>
                <a:latin typeface="Aptos"/>
              </a:rPr>
              <a:t>4. PAN-INDIA SCALABILITY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46870" y="6062472"/>
            <a:ext cx="2494026" cy="429768"/>
          </a:xfrm>
          <a:prstGeom prst="rect">
            <a:avLst/>
          </a:prstGeom>
          <a:noFill/>
        </p:spPr>
        <p:txBody>
          <a:bodyPr wrap="square" lIns="9144" rIns="9144">
            <a:spAutoFit/>
          </a:bodyPr>
          <a:lstStyle/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Calibrated on Chennai</a:t>
            </a:r>
          </a:p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Portable to Mumbai, Delhi, Bengaluru</a:t>
            </a:r>
          </a:p>
          <a:p>
            <a:pPr>
              <a:spcAft>
                <a:spcPts val="0"/>
              </a:spcAft>
              <a:defRPr sz="680">
                <a:solidFill>
                  <a:srgbClr val="566470"/>
                </a:solidFill>
                <a:latin typeface="Aptos"/>
              </a:defRPr>
            </a:pPr>
            <a:r>
              <a:t>• Modular + configurable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" y="6684264"/>
            <a:ext cx="3657600" cy="1097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580" b="1" i="0">
                <a:solidFill>
                  <a:srgbClr val="566470"/>
                </a:solidFill>
                <a:latin typeface="Aptos"/>
              </a:rPr>
              <a:t>SMART INDIA HACKATHON 2026  •  PS 26085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0" y="6684264"/>
            <a:ext cx="3520440" cy="1097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580" b="1" i="0">
                <a:solidFill>
                  <a:srgbClr val="566470"/>
                </a:solidFill>
                <a:latin typeface="Aptos"/>
              </a:rPr>
              <a:t>PREDICT  |  VISUALIZE  |  ALERT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